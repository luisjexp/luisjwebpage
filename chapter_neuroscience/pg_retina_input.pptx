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25" d="100"/>
          <a:sy n="125" d="100"/>
        </p:scale>
        <p:origin x="-18"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32B05-2AA7-B9E2-340A-7B75A00C30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83A976-E735-8E95-02D2-8A05190F46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882884-240C-E859-F3BD-0D9214E4E8D5}"/>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5" name="Footer Placeholder 4">
            <a:extLst>
              <a:ext uri="{FF2B5EF4-FFF2-40B4-BE49-F238E27FC236}">
                <a16:creationId xmlns:a16="http://schemas.microsoft.com/office/drawing/2014/main" id="{A3DFA94E-5462-520F-4414-86475761B1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B02E41-E111-06E0-3B13-09A5BB58A032}"/>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45390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FC416-D2F1-3B35-598F-43E09DDDDA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9F4DD7-5429-99A9-8356-0F46E8AE27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C9676B-3FAD-51DF-6CF5-71C944AA5B98}"/>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5" name="Footer Placeholder 4">
            <a:extLst>
              <a:ext uri="{FF2B5EF4-FFF2-40B4-BE49-F238E27FC236}">
                <a16:creationId xmlns:a16="http://schemas.microsoft.com/office/drawing/2014/main" id="{BD7B6543-7749-1F10-88B9-78203539B0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B8F9A5-31D5-D791-8CC8-1F984B405758}"/>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1413934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11217-EF4B-BBDB-F6E6-344051A1C6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8A5586-E1DA-86A7-8298-048EEDF234F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ECCB62-7789-F51B-82F7-3BFBFF670C35}"/>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5" name="Footer Placeholder 4">
            <a:extLst>
              <a:ext uri="{FF2B5EF4-FFF2-40B4-BE49-F238E27FC236}">
                <a16:creationId xmlns:a16="http://schemas.microsoft.com/office/drawing/2014/main" id="{9D787400-F593-2971-2409-16232B88F6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D911AB-FA51-6062-3029-FC3C964AD199}"/>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2481554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F6AE-27C4-2909-A7F7-ED697535C3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244EB-1BE1-705A-1A62-99AF8BA9CE0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7A0C8B-2971-98F3-E940-BE82A28D84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288E80B-AAA7-91F3-976C-404D75F29B4E}"/>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6" name="Footer Placeholder 5">
            <a:extLst>
              <a:ext uri="{FF2B5EF4-FFF2-40B4-BE49-F238E27FC236}">
                <a16:creationId xmlns:a16="http://schemas.microsoft.com/office/drawing/2014/main" id="{5580718C-CEAD-53CB-D487-2E65F30F40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5B4590-F38A-646B-68C5-8329918A9C68}"/>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2863771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92A18-021E-8077-502F-D4AC9D0705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5155AB-10A4-7274-4C99-A2C60BFA87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43C77D-4C67-109A-074F-9A94778ADE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FB4833-D6B4-5B66-62F7-D12CCE46BE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71EDF-E5F1-F292-2A52-0B67116A31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9BFE3B-68BE-4D48-2BC1-19078B5348BC}"/>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8" name="Footer Placeholder 7">
            <a:extLst>
              <a:ext uri="{FF2B5EF4-FFF2-40B4-BE49-F238E27FC236}">
                <a16:creationId xmlns:a16="http://schemas.microsoft.com/office/drawing/2014/main" id="{B18A654F-B9E7-8CD8-ACF8-65EFB9699B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5B2BDB1-DE4C-2C51-F657-477375103A3F}"/>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23453928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DCCED-F04D-F182-2EA0-1CB92BA7DFC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047AFD6-A941-433D-AD2E-B650827C493F}"/>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4" name="Footer Placeholder 3">
            <a:extLst>
              <a:ext uri="{FF2B5EF4-FFF2-40B4-BE49-F238E27FC236}">
                <a16:creationId xmlns:a16="http://schemas.microsoft.com/office/drawing/2014/main" id="{10D8E260-3784-9A7E-7A56-5FA0AD53EA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A6A015-05B7-B01C-6D2D-F6A4ED1915C8}"/>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2187871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3A50EB9-3B95-FE15-C6DF-D7E84760BE08}"/>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3" name="Footer Placeholder 2">
            <a:extLst>
              <a:ext uri="{FF2B5EF4-FFF2-40B4-BE49-F238E27FC236}">
                <a16:creationId xmlns:a16="http://schemas.microsoft.com/office/drawing/2014/main" id="{5153A29A-C139-19E7-2FE3-098696072A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AA68808-8C4E-05BD-D351-A7F463B22AA7}"/>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3486508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0C254-D397-64FC-4648-5D0A1E6980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6857FCC-9547-1361-31C7-5D5B860875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CD5557F-2A31-202B-D8C0-48A488AFA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72A86-C04D-80E4-09A5-4574FC90FC45}"/>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6" name="Footer Placeholder 5">
            <a:extLst>
              <a:ext uri="{FF2B5EF4-FFF2-40B4-BE49-F238E27FC236}">
                <a16:creationId xmlns:a16="http://schemas.microsoft.com/office/drawing/2014/main" id="{1E3E78FB-FE69-1E41-39BA-4B438C0EEF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1DCF14-975E-86A8-4FE7-327897312C01}"/>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24731412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7F0D-7F79-85ED-A0C1-921D8E5F8F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9921CDA-009C-C2C6-9986-3F1362BEA3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322F110-77F3-0643-8D9C-87E3DD25A1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8D2483-B02D-B62D-BAB6-026A7FE7BC82}"/>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6" name="Footer Placeholder 5">
            <a:extLst>
              <a:ext uri="{FF2B5EF4-FFF2-40B4-BE49-F238E27FC236}">
                <a16:creationId xmlns:a16="http://schemas.microsoft.com/office/drawing/2014/main" id="{418E5AB2-C82D-2F94-724A-7FD1800522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D9E4B5-1737-457B-6277-FB3EFF43846D}"/>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36811708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38ACB-5C35-C4F8-2B87-540148A31CB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487A2F4-6E9E-6BDE-ACCF-205281CB89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262836-ED7D-A47D-DE4A-105CF6BE6755}"/>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5" name="Footer Placeholder 4">
            <a:extLst>
              <a:ext uri="{FF2B5EF4-FFF2-40B4-BE49-F238E27FC236}">
                <a16:creationId xmlns:a16="http://schemas.microsoft.com/office/drawing/2014/main" id="{0AFE9B44-AD52-46A9-94E7-F092C79B52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9EE1EA-2039-9EF2-E5B5-531581EBEF29}"/>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570897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23FA97-7472-F9CB-2FB6-EC48F907807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D98ADC-79AD-AC69-ECBA-B1462200A1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83371A-7A1C-2216-BD6A-C68953888EF1}"/>
              </a:ext>
            </a:extLst>
          </p:cNvPr>
          <p:cNvSpPr>
            <a:spLocks noGrp="1"/>
          </p:cNvSpPr>
          <p:nvPr>
            <p:ph type="dt" sz="half" idx="10"/>
          </p:nvPr>
        </p:nvSpPr>
        <p:spPr/>
        <p:txBody>
          <a:bodyPr/>
          <a:lstStyle/>
          <a:p>
            <a:fld id="{724A786E-AD9F-4570-A11B-9776300E6D01}" type="datetimeFigureOut">
              <a:rPr lang="en-US" smtClean="0"/>
              <a:t>2/4/2026</a:t>
            </a:fld>
            <a:endParaRPr lang="en-US"/>
          </a:p>
        </p:txBody>
      </p:sp>
      <p:sp>
        <p:nvSpPr>
          <p:cNvPr id="5" name="Footer Placeholder 4">
            <a:extLst>
              <a:ext uri="{FF2B5EF4-FFF2-40B4-BE49-F238E27FC236}">
                <a16:creationId xmlns:a16="http://schemas.microsoft.com/office/drawing/2014/main" id="{33CCF001-5442-C0B4-DEC7-B7612ED74C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387644-E86E-6EE5-DB3D-0E66DF6CB53A}"/>
              </a:ext>
            </a:extLst>
          </p:cNvPr>
          <p:cNvSpPr>
            <a:spLocks noGrp="1"/>
          </p:cNvSpPr>
          <p:nvPr>
            <p:ph type="sldNum" sz="quarter" idx="12"/>
          </p:nvPr>
        </p:nvSpPr>
        <p:spPr/>
        <p:txBody>
          <a:bodyPr/>
          <a:lstStyle/>
          <a:p>
            <a:fld id="{059EC23A-1E6E-472B-BBEC-320F9A75A8A3}" type="slidenum">
              <a:rPr lang="en-US" smtClean="0"/>
              <a:t>‹#›</a:t>
            </a:fld>
            <a:endParaRPr lang="en-US"/>
          </a:p>
        </p:txBody>
      </p:sp>
    </p:spTree>
    <p:extLst>
      <p:ext uri="{BB962C8B-B14F-4D97-AF65-F5344CB8AC3E}">
        <p14:creationId xmlns:p14="http://schemas.microsoft.com/office/powerpoint/2010/main" val="3725404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970F66-527C-31E4-14A3-E555582235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68ECB6D-E043-9E7E-3739-E7F5748AC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351CAE-8F0B-3323-2B74-5392C2ABEE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4A786E-AD9F-4570-A11B-9776300E6D01}" type="datetimeFigureOut">
              <a:rPr lang="en-US" smtClean="0"/>
              <a:t>2/4/2026</a:t>
            </a:fld>
            <a:endParaRPr lang="en-US"/>
          </a:p>
        </p:txBody>
      </p:sp>
      <p:sp>
        <p:nvSpPr>
          <p:cNvPr id="5" name="Footer Placeholder 4">
            <a:extLst>
              <a:ext uri="{FF2B5EF4-FFF2-40B4-BE49-F238E27FC236}">
                <a16:creationId xmlns:a16="http://schemas.microsoft.com/office/drawing/2014/main" id="{601B1C9D-2C8C-1703-68C0-EFABEDDCA9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28C65B-9501-1B33-D4A1-28C3C8E9B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9EC23A-1E6E-472B-BBEC-320F9A75A8A3}" type="slidenum">
              <a:rPr lang="en-US" smtClean="0"/>
              <a:t>‹#›</a:t>
            </a:fld>
            <a:endParaRPr lang="en-US"/>
          </a:p>
        </p:txBody>
      </p:sp>
    </p:spTree>
    <p:extLst>
      <p:ext uri="{BB962C8B-B14F-4D97-AF65-F5344CB8AC3E}">
        <p14:creationId xmlns:p14="http://schemas.microsoft.com/office/powerpoint/2010/main" val="19255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isle.hanover.edu/Ch03Eye/Ch03Accommodation.html" TargetMode="External"/><Relationship Id="rId2"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hyperlink" Target="https://michaelbach.de/ot/cog-blindSpot/" TargetMode="External"/></Relationships>
</file>

<file path=ppt/slides/_rels/slide14.xml.rels><?xml version="1.0" encoding="UTF-8" standalone="yes"?>
<Relationships xmlns="http://schemas.openxmlformats.org/package/2006/relationships"><Relationship Id="rId8" Type="http://schemas.openxmlformats.org/officeDocument/2006/relationships/hyperlink" Target="https://etextlauncher.cengage.com/services/tribble/preview?eISBN=9780357709948&amp;nodeId=LGGVXE7AD5UHKBT9G266" TargetMode="External"/><Relationship Id="rId3" Type="http://schemas.openxmlformats.org/officeDocument/2006/relationships/hyperlink" Target="https://openstax.org/books/anatomy-and-physiology/pages/1-introduction" TargetMode="External"/><Relationship Id="rId7" Type="http://schemas.openxmlformats.org/officeDocument/2006/relationships/hyperlink" Target="https://etextlauncher.cengage.com/services/tribble/preview?eISBN=9780357709948&amp;nodeId=FPNHXAHUV0R2H1ABS693" TargetMode="External"/><Relationship Id="rId2" Type="http://schemas.openxmlformats.org/officeDocument/2006/relationships/hyperlink" Target="https://openstax.org/books/anatomy-and-physiology/pages/12-introduction" TargetMode="External"/><Relationship Id="rId1" Type="http://schemas.openxmlformats.org/officeDocument/2006/relationships/slideLayout" Target="../slideLayouts/slideLayout6.xml"/><Relationship Id="rId6" Type="http://schemas.openxmlformats.org/officeDocument/2006/relationships/hyperlink" Target="https://etextlauncher.cengage.com/services/tribble/preview?eISBN=9780357709948&amp;nodeId=RNPRNS60F4XW53M3Q647" TargetMode="External"/><Relationship Id="rId5" Type="http://schemas.openxmlformats.org/officeDocument/2006/relationships/hyperlink" Target="https://etextlauncher.cengage.com/services/tribble/preview?eISBN=9780357709948&amp;nodeId=NAJEYY813S84TTERR024" TargetMode="External"/><Relationship Id="rId4" Type="http://schemas.openxmlformats.org/officeDocument/2006/relationships/hyperlink" Target="https://etextlauncher.cengage.com/services/tribble/preview?eISBN=9780357709948&amp;nodeId=RBHHVNMTV78JZEVSK648"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2956-E4D2-E504-B246-0B86B081D82D}"/>
              </a:ext>
            </a:extLst>
          </p:cNvPr>
          <p:cNvSpPr>
            <a:spLocks noGrp="1"/>
          </p:cNvSpPr>
          <p:nvPr>
            <p:ph type="ctrTitle"/>
          </p:nvPr>
        </p:nvSpPr>
        <p:spPr/>
        <p:txBody>
          <a:bodyPr/>
          <a:lstStyle/>
          <a:p>
            <a:r>
              <a:rPr lang="en-US"/>
              <a:t>Foundations</a:t>
            </a:r>
          </a:p>
        </p:txBody>
      </p:sp>
      <p:sp>
        <p:nvSpPr>
          <p:cNvPr id="3" name="Subtitle 2">
            <a:extLst>
              <a:ext uri="{FF2B5EF4-FFF2-40B4-BE49-F238E27FC236}">
                <a16:creationId xmlns:a16="http://schemas.microsoft.com/office/drawing/2014/main" id="{99658BE0-DE9B-2508-D368-89D5142D3AEA}"/>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2179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3D81A-6B98-D529-D804-37B19C90D145}"/>
              </a:ext>
            </a:extLst>
          </p:cNvPr>
          <p:cNvSpPr>
            <a:spLocks noGrp="1"/>
          </p:cNvSpPr>
          <p:nvPr>
            <p:ph type="title"/>
          </p:nvPr>
        </p:nvSpPr>
        <p:spPr/>
        <p:txBody>
          <a:bodyPr/>
          <a:lstStyle/>
          <a:p>
            <a:r>
              <a:rPr lang="en-US"/>
              <a:t>Steps of sensory processing</a:t>
            </a:r>
          </a:p>
        </p:txBody>
      </p:sp>
      <p:pic>
        <p:nvPicPr>
          <p:cNvPr id="5" name="Picture 4">
            <a:extLst>
              <a:ext uri="{FF2B5EF4-FFF2-40B4-BE49-F238E27FC236}">
                <a16:creationId xmlns:a16="http://schemas.microsoft.com/office/drawing/2014/main" id="{33C8AADF-9D7A-7A19-2B0B-0E45FB3C8572}"/>
              </a:ext>
            </a:extLst>
          </p:cNvPr>
          <p:cNvPicPr>
            <a:picLocks noChangeAspect="1"/>
          </p:cNvPicPr>
          <p:nvPr/>
        </p:nvPicPr>
        <p:blipFill>
          <a:blip r:embed="rId2"/>
          <a:stretch>
            <a:fillRect/>
          </a:stretch>
        </p:blipFill>
        <p:spPr>
          <a:xfrm>
            <a:off x="1507469" y="2156257"/>
            <a:ext cx="4080278" cy="3227522"/>
          </a:xfrm>
          <a:prstGeom prst="rect">
            <a:avLst/>
          </a:prstGeom>
        </p:spPr>
      </p:pic>
      <p:pic>
        <p:nvPicPr>
          <p:cNvPr id="9" name="Picture 8">
            <a:extLst>
              <a:ext uri="{FF2B5EF4-FFF2-40B4-BE49-F238E27FC236}">
                <a16:creationId xmlns:a16="http://schemas.microsoft.com/office/drawing/2014/main" id="{15F9D116-D985-A20E-06B1-AE1A9F79018D}"/>
              </a:ext>
            </a:extLst>
          </p:cNvPr>
          <p:cNvPicPr>
            <a:picLocks noChangeAspect="1"/>
          </p:cNvPicPr>
          <p:nvPr/>
        </p:nvPicPr>
        <p:blipFill>
          <a:blip r:embed="rId3"/>
          <a:stretch>
            <a:fillRect/>
          </a:stretch>
        </p:blipFill>
        <p:spPr>
          <a:xfrm>
            <a:off x="6936639" y="2040754"/>
            <a:ext cx="4190165" cy="3675949"/>
          </a:xfrm>
          <a:prstGeom prst="rect">
            <a:avLst/>
          </a:prstGeom>
        </p:spPr>
      </p:pic>
    </p:spTree>
    <p:extLst>
      <p:ext uri="{BB962C8B-B14F-4D97-AF65-F5344CB8AC3E}">
        <p14:creationId xmlns:p14="http://schemas.microsoft.com/office/powerpoint/2010/main" val="1113477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DD0D1-C1E6-A848-1433-C05F6821CB5C}"/>
              </a:ext>
            </a:extLst>
          </p:cNvPr>
          <p:cNvSpPr>
            <a:spLocks noGrp="1"/>
          </p:cNvSpPr>
          <p:nvPr>
            <p:ph type="title"/>
          </p:nvPr>
        </p:nvSpPr>
        <p:spPr/>
        <p:txBody>
          <a:bodyPr/>
          <a:lstStyle/>
          <a:p>
            <a:r>
              <a:rPr lang="en-US"/>
              <a:t>The Eye: </a:t>
            </a:r>
          </a:p>
        </p:txBody>
      </p:sp>
      <p:pic>
        <p:nvPicPr>
          <p:cNvPr id="5" name="Picture 4">
            <a:extLst>
              <a:ext uri="{FF2B5EF4-FFF2-40B4-BE49-F238E27FC236}">
                <a16:creationId xmlns:a16="http://schemas.microsoft.com/office/drawing/2014/main" id="{E92D657C-61A4-11D4-6E57-EADB6DE6BFA5}"/>
              </a:ext>
            </a:extLst>
          </p:cNvPr>
          <p:cNvPicPr>
            <a:picLocks noChangeAspect="1"/>
          </p:cNvPicPr>
          <p:nvPr/>
        </p:nvPicPr>
        <p:blipFill>
          <a:blip r:embed="rId2"/>
          <a:stretch>
            <a:fillRect/>
          </a:stretch>
        </p:blipFill>
        <p:spPr>
          <a:xfrm>
            <a:off x="6828611" y="795077"/>
            <a:ext cx="3533180" cy="2862323"/>
          </a:xfrm>
          <a:prstGeom prst="rect">
            <a:avLst/>
          </a:prstGeom>
        </p:spPr>
      </p:pic>
      <p:pic>
        <p:nvPicPr>
          <p:cNvPr id="7" name="Picture 6">
            <a:extLst>
              <a:ext uri="{FF2B5EF4-FFF2-40B4-BE49-F238E27FC236}">
                <a16:creationId xmlns:a16="http://schemas.microsoft.com/office/drawing/2014/main" id="{294A70D4-7335-BD84-979B-B7E1B8F33B71}"/>
              </a:ext>
            </a:extLst>
          </p:cNvPr>
          <p:cNvPicPr>
            <a:picLocks noChangeAspect="1"/>
          </p:cNvPicPr>
          <p:nvPr/>
        </p:nvPicPr>
        <p:blipFill>
          <a:blip r:embed="rId3"/>
          <a:stretch>
            <a:fillRect/>
          </a:stretch>
        </p:blipFill>
        <p:spPr>
          <a:xfrm>
            <a:off x="7215796" y="3856008"/>
            <a:ext cx="2957174" cy="2714505"/>
          </a:xfrm>
          <a:prstGeom prst="rect">
            <a:avLst/>
          </a:prstGeom>
        </p:spPr>
      </p:pic>
      <p:sp>
        <p:nvSpPr>
          <p:cNvPr id="9" name="TextBox 8">
            <a:extLst>
              <a:ext uri="{FF2B5EF4-FFF2-40B4-BE49-F238E27FC236}">
                <a16:creationId xmlns:a16="http://schemas.microsoft.com/office/drawing/2014/main" id="{5BDD865E-76BD-EFFB-2504-090FAF5D9AAB}"/>
              </a:ext>
            </a:extLst>
          </p:cNvPr>
          <p:cNvSpPr txBox="1"/>
          <p:nvPr/>
        </p:nvSpPr>
        <p:spPr>
          <a:xfrm>
            <a:off x="838200" y="2258753"/>
            <a:ext cx="4525190" cy="2862322"/>
          </a:xfrm>
          <a:prstGeom prst="rect">
            <a:avLst/>
          </a:prstGeom>
          <a:noFill/>
        </p:spPr>
        <p:txBody>
          <a:bodyPr wrap="square">
            <a:spAutoFit/>
          </a:bodyPr>
          <a:lstStyle/>
          <a:p>
            <a:pPr>
              <a:buNone/>
            </a:pPr>
            <a:r>
              <a:rPr lang="en-US"/>
              <a:t>In a “simple” or “camera eye”,</a:t>
            </a:r>
          </a:p>
          <a:p>
            <a:pPr>
              <a:buFont typeface="Arial" panose="020B0604020202020204" pitchFamily="34" charset="0"/>
              <a:buChar char="•"/>
            </a:pPr>
            <a:r>
              <a:rPr lang="en-US"/>
              <a:t>The </a:t>
            </a:r>
            <a:r>
              <a:rPr lang="en-US" b="1"/>
              <a:t>iris</a:t>
            </a:r>
            <a:r>
              <a:rPr lang="en-US"/>
              <a:t> adjusts to let in more or less light through the </a:t>
            </a:r>
            <a:r>
              <a:rPr lang="en-US" b="1"/>
              <a:t>pupil</a:t>
            </a:r>
            <a:r>
              <a:rPr lang="en-US"/>
              <a:t>.</a:t>
            </a:r>
          </a:p>
          <a:p>
            <a:pPr>
              <a:buFont typeface="Arial" panose="020B0604020202020204" pitchFamily="34" charset="0"/>
              <a:buChar char="•"/>
            </a:pPr>
            <a:r>
              <a:rPr lang="en-US"/>
              <a:t>the image is inverted on the retina.</a:t>
            </a:r>
          </a:p>
          <a:p>
            <a:pPr>
              <a:buFont typeface="Arial" panose="020B0604020202020204" pitchFamily="34" charset="0"/>
              <a:buChar char="•"/>
            </a:pPr>
            <a:r>
              <a:rPr lang="en-US"/>
              <a:t>The blood vessels  that supply the intraretinal circulation enter and leave the eye at the </a:t>
            </a:r>
            <a:r>
              <a:rPr lang="en-US" b="1"/>
              <a:t>optic disk</a:t>
            </a:r>
            <a:r>
              <a:rPr lang="en-US"/>
              <a:t>. The optic disk is also the place where optic axons leave the eye and become the </a:t>
            </a:r>
            <a:r>
              <a:rPr lang="en-US" b="1"/>
              <a:t>optic nerve</a:t>
            </a:r>
            <a:r>
              <a:rPr lang="en-US"/>
              <a:t>. The optic disk has no receptors and is thus a </a:t>
            </a:r>
            <a:r>
              <a:rPr lang="en-US" b="1"/>
              <a:t>blind spot</a:t>
            </a:r>
            <a:r>
              <a:rPr lang="en-US"/>
              <a:t>.</a:t>
            </a:r>
          </a:p>
        </p:txBody>
      </p:sp>
    </p:spTree>
    <p:extLst>
      <p:ext uri="{BB962C8B-B14F-4D97-AF65-F5344CB8AC3E}">
        <p14:creationId xmlns:p14="http://schemas.microsoft.com/office/powerpoint/2010/main" val="3611777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564D9-DAA7-4E8B-E16D-5175EE8089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DB7BB-5A32-DB49-402C-74868928B056}"/>
              </a:ext>
            </a:extLst>
          </p:cNvPr>
          <p:cNvSpPr>
            <a:spLocks noGrp="1"/>
          </p:cNvSpPr>
          <p:nvPr>
            <p:ph type="title"/>
          </p:nvPr>
        </p:nvSpPr>
        <p:spPr>
          <a:xfrm>
            <a:off x="838200" y="365125"/>
            <a:ext cx="7788215" cy="916873"/>
          </a:xfrm>
        </p:spPr>
        <p:txBody>
          <a:bodyPr/>
          <a:lstStyle/>
          <a:p>
            <a:r>
              <a:rPr lang="en-US"/>
              <a:t>The Lens: Accommodation</a:t>
            </a:r>
          </a:p>
        </p:txBody>
      </p:sp>
      <p:sp>
        <p:nvSpPr>
          <p:cNvPr id="9" name="TextBox 8">
            <a:extLst>
              <a:ext uri="{FF2B5EF4-FFF2-40B4-BE49-F238E27FC236}">
                <a16:creationId xmlns:a16="http://schemas.microsoft.com/office/drawing/2014/main" id="{479C2A08-104B-9FC6-C402-33D5AE1EFC13}"/>
              </a:ext>
            </a:extLst>
          </p:cNvPr>
          <p:cNvSpPr txBox="1"/>
          <p:nvPr/>
        </p:nvSpPr>
        <p:spPr>
          <a:xfrm>
            <a:off x="838200" y="1456496"/>
            <a:ext cx="5873151" cy="4524315"/>
          </a:xfrm>
          <a:prstGeom prst="rect">
            <a:avLst/>
          </a:prstGeom>
          <a:noFill/>
        </p:spPr>
        <p:txBody>
          <a:bodyPr wrap="square">
            <a:spAutoFit/>
          </a:bodyPr>
          <a:lstStyle/>
          <a:p>
            <a:pPr marL="285750" indent="-285750">
              <a:buFont typeface="Arial" panose="020B0604020202020204" pitchFamily="34" charset="0"/>
              <a:buChar char="•"/>
            </a:pPr>
            <a:r>
              <a:rPr lang="en-US" sz="1600"/>
              <a:t>The Lens is the adjustable focusing element of the eye. </a:t>
            </a:r>
          </a:p>
          <a:p>
            <a:pPr marL="285750" indent="-285750">
              <a:buFont typeface="Arial" panose="020B0604020202020204" pitchFamily="34" charset="0"/>
              <a:buChar char="•"/>
            </a:pPr>
            <a:r>
              <a:rPr lang="en-US" sz="1600"/>
              <a:t>It is located just behind the iris. </a:t>
            </a:r>
          </a:p>
          <a:p>
            <a:pPr marL="285750" indent="-285750">
              <a:buFont typeface="Arial" panose="020B0604020202020204" pitchFamily="34" charset="0"/>
              <a:buChar char="•"/>
            </a:pPr>
            <a:r>
              <a:rPr lang="en-US" sz="1600"/>
              <a:t>This process of adjusting the focus for different distances by changing the shape of the lens is called accommodation.</a:t>
            </a:r>
          </a:p>
          <a:p>
            <a:pPr marL="285750" indent="-285750">
              <a:buFont typeface="Arial" panose="020B0604020202020204" pitchFamily="34" charset="0"/>
              <a:buChar char="•"/>
            </a:pPr>
            <a:r>
              <a:rPr lang="en-US" sz="1600"/>
              <a:t>This process is very rapid although changing accommodation from a near object to a far object is faster than going from a far object to a near object</a:t>
            </a:r>
          </a:p>
          <a:p>
            <a:pPr marL="285750" indent="-285750">
              <a:buFont typeface="Arial" panose="020B0604020202020204" pitchFamily="34" charset="0"/>
              <a:buChar char="•"/>
            </a:pPr>
            <a:r>
              <a:rPr lang="en-US" sz="1600"/>
              <a:t>Accommodation is controlled by muscles connected to the lens, called ciliary muscles. </a:t>
            </a:r>
          </a:p>
          <a:p>
            <a:pPr marL="742950" lvl="1" indent="-285750">
              <a:buFont typeface="Arial" panose="020B0604020202020204" pitchFamily="34" charset="0"/>
              <a:buChar char="•"/>
            </a:pPr>
            <a:r>
              <a:rPr lang="en-US" sz="1600"/>
              <a:t>The ciliary muscles work automatically without conscious control. </a:t>
            </a:r>
          </a:p>
          <a:p>
            <a:pPr marL="742950" lvl="1" indent="-285750">
              <a:buFont typeface="Arial" panose="020B0604020202020204" pitchFamily="34" charset="0"/>
              <a:buChar char="•"/>
            </a:pPr>
            <a:r>
              <a:rPr lang="en-US" sz="1600"/>
              <a:t>They can contract and increase the curvature of the lens so that the lens thickens. </a:t>
            </a:r>
          </a:p>
          <a:p>
            <a:pPr marL="285750" indent="-285750">
              <a:buFont typeface="Arial" panose="020B0604020202020204" pitchFamily="34" charset="0"/>
              <a:buChar char="•"/>
            </a:pPr>
            <a:r>
              <a:rPr lang="en-US" sz="1600"/>
              <a:t>The increased curvature of the lens allows the eye to focus on a close object. </a:t>
            </a:r>
          </a:p>
          <a:p>
            <a:pPr marL="742950" lvl="1" indent="-285750">
              <a:buFont typeface="Arial" panose="020B0604020202020204" pitchFamily="34" charset="0"/>
              <a:buChar char="•"/>
            </a:pPr>
            <a:r>
              <a:rPr lang="en-US" sz="1600"/>
              <a:t>When the person then has to look at a faraway object, the muscles relax and the focus of the lens changes to an object further away. </a:t>
            </a:r>
          </a:p>
        </p:txBody>
      </p:sp>
      <p:pic>
        <p:nvPicPr>
          <p:cNvPr id="6" name="Picture 5">
            <a:extLst>
              <a:ext uri="{FF2B5EF4-FFF2-40B4-BE49-F238E27FC236}">
                <a16:creationId xmlns:a16="http://schemas.microsoft.com/office/drawing/2014/main" id="{EE14784A-31FF-A29B-726E-BAA3DB48F22B}"/>
              </a:ext>
            </a:extLst>
          </p:cNvPr>
          <p:cNvPicPr>
            <a:picLocks noChangeAspect="1"/>
          </p:cNvPicPr>
          <p:nvPr/>
        </p:nvPicPr>
        <p:blipFill>
          <a:blip r:embed="rId2"/>
          <a:stretch>
            <a:fillRect/>
          </a:stretch>
        </p:blipFill>
        <p:spPr>
          <a:xfrm>
            <a:off x="7549462" y="1456496"/>
            <a:ext cx="3804338" cy="2561551"/>
          </a:xfrm>
          <a:prstGeom prst="rect">
            <a:avLst/>
          </a:prstGeom>
        </p:spPr>
      </p:pic>
      <p:pic>
        <p:nvPicPr>
          <p:cNvPr id="10" name="Picture 9">
            <a:hlinkClick r:id="rId3"/>
            <a:extLst>
              <a:ext uri="{FF2B5EF4-FFF2-40B4-BE49-F238E27FC236}">
                <a16:creationId xmlns:a16="http://schemas.microsoft.com/office/drawing/2014/main" id="{6F5D0A0B-EB0D-E3B5-EE4C-2F089E4CE632}"/>
              </a:ext>
            </a:extLst>
          </p:cNvPr>
          <p:cNvPicPr>
            <a:picLocks noChangeAspect="1"/>
          </p:cNvPicPr>
          <p:nvPr/>
        </p:nvPicPr>
        <p:blipFill>
          <a:blip r:embed="rId4"/>
          <a:stretch>
            <a:fillRect/>
          </a:stretch>
        </p:blipFill>
        <p:spPr>
          <a:xfrm>
            <a:off x="7712015" y="4192545"/>
            <a:ext cx="3054066" cy="1833745"/>
          </a:xfrm>
          <a:prstGeom prst="rect">
            <a:avLst/>
          </a:prstGeom>
        </p:spPr>
      </p:pic>
      <p:sp>
        <p:nvSpPr>
          <p:cNvPr id="12" name="TextBox 11">
            <a:extLst>
              <a:ext uri="{FF2B5EF4-FFF2-40B4-BE49-F238E27FC236}">
                <a16:creationId xmlns:a16="http://schemas.microsoft.com/office/drawing/2014/main" id="{92BDD514-033C-2474-0A8A-1B95A3256371}"/>
              </a:ext>
            </a:extLst>
          </p:cNvPr>
          <p:cNvSpPr txBox="1"/>
          <p:nvPr/>
        </p:nvSpPr>
        <p:spPr>
          <a:xfrm>
            <a:off x="8050917" y="6026290"/>
            <a:ext cx="2715164" cy="461665"/>
          </a:xfrm>
          <a:prstGeom prst="rect">
            <a:avLst/>
          </a:prstGeom>
          <a:noFill/>
        </p:spPr>
        <p:txBody>
          <a:bodyPr wrap="square">
            <a:spAutoFit/>
          </a:bodyPr>
          <a:lstStyle/>
          <a:p>
            <a:r>
              <a:rPr lang="en-US" sz="1200"/>
              <a:t>https://isle.hanover.edu/Ch03Eye/Ch03Accommodation.html</a:t>
            </a:r>
          </a:p>
        </p:txBody>
      </p:sp>
    </p:spTree>
    <p:extLst>
      <p:ext uri="{BB962C8B-B14F-4D97-AF65-F5344CB8AC3E}">
        <p14:creationId xmlns:p14="http://schemas.microsoft.com/office/powerpoint/2010/main" val="1289915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FB743-C549-A877-F2FD-9837BB91F9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7DE7C7-7862-0493-8FB8-33E5DF874263}"/>
              </a:ext>
            </a:extLst>
          </p:cNvPr>
          <p:cNvSpPr>
            <a:spLocks noGrp="1"/>
          </p:cNvSpPr>
          <p:nvPr>
            <p:ph type="title"/>
          </p:nvPr>
        </p:nvSpPr>
        <p:spPr>
          <a:xfrm>
            <a:off x="838200" y="365125"/>
            <a:ext cx="7788215" cy="1325563"/>
          </a:xfrm>
        </p:spPr>
        <p:txBody>
          <a:bodyPr/>
          <a:lstStyle/>
          <a:p>
            <a:r>
              <a:rPr lang="en-US"/>
              <a:t>The Lens: Image inversion</a:t>
            </a:r>
          </a:p>
        </p:txBody>
      </p:sp>
      <p:sp>
        <p:nvSpPr>
          <p:cNvPr id="3" name="TextBox 2">
            <a:extLst>
              <a:ext uri="{FF2B5EF4-FFF2-40B4-BE49-F238E27FC236}">
                <a16:creationId xmlns:a16="http://schemas.microsoft.com/office/drawing/2014/main" id="{83F316BB-54E6-9410-AD4E-C71473A03799}"/>
              </a:ext>
            </a:extLst>
          </p:cNvPr>
          <p:cNvSpPr txBox="1"/>
          <p:nvPr/>
        </p:nvSpPr>
        <p:spPr>
          <a:xfrm>
            <a:off x="1250831" y="2406770"/>
            <a:ext cx="4451230" cy="1477328"/>
          </a:xfrm>
          <a:prstGeom prst="rect">
            <a:avLst/>
          </a:prstGeom>
          <a:noFill/>
        </p:spPr>
        <p:txBody>
          <a:bodyPr wrap="square" rtlCol="0">
            <a:spAutoFit/>
          </a:bodyPr>
          <a:lstStyle/>
          <a:p>
            <a:r>
              <a:rPr lang="en-US"/>
              <a:t>Everything gets reversed when it passes through the lens</a:t>
            </a:r>
          </a:p>
          <a:p>
            <a:endParaRPr lang="en-US"/>
          </a:p>
          <a:p>
            <a:r>
              <a:rPr lang="en-US"/>
              <a:t>An object in the visual field produces an inverted image on the retina</a:t>
            </a:r>
          </a:p>
        </p:txBody>
      </p:sp>
      <p:pic>
        <p:nvPicPr>
          <p:cNvPr id="5" name="Picture 4">
            <a:extLst>
              <a:ext uri="{FF2B5EF4-FFF2-40B4-BE49-F238E27FC236}">
                <a16:creationId xmlns:a16="http://schemas.microsoft.com/office/drawing/2014/main" id="{6A9AB732-5DFE-EEFE-0789-695DCC9FE1EE}"/>
              </a:ext>
            </a:extLst>
          </p:cNvPr>
          <p:cNvPicPr>
            <a:picLocks noChangeAspect="1"/>
          </p:cNvPicPr>
          <p:nvPr/>
        </p:nvPicPr>
        <p:blipFill>
          <a:blip r:embed="rId2"/>
          <a:stretch>
            <a:fillRect/>
          </a:stretch>
        </p:blipFill>
        <p:spPr>
          <a:xfrm>
            <a:off x="7371347" y="642327"/>
            <a:ext cx="3122483" cy="2083634"/>
          </a:xfrm>
          <a:prstGeom prst="rect">
            <a:avLst/>
          </a:prstGeom>
        </p:spPr>
      </p:pic>
      <p:pic>
        <p:nvPicPr>
          <p:cNvPr id="11" name="Picture 10">
            <a:extLst>
              <a:ext uri="{FF2B5EF4-FFF2-40B4-BE49-F238E27FC236}">
                <a16:creationId xmlns:a16="http://schemas.microsoft.com/office/drawing/2014/main" id="{11C2FFB5-2405-B581-8C12-813D6F5AF085}"/>
              </a:ext>
            </a:extLst>
          </p:cNvPr>
          <p:cNvPicPr>
            <a:picLocks noChangeAspect="1"/>
          </p:cNvPicPr>
          <p:nvPr/>
        </p:nvPicPr>
        <p:blipFill>
          <a:blip r:embed="rId3"/>
          <a:stretch>
            <a:fillRect/>
          </a:stretch>
        </p:blipFill>
        <p:spPr>
          <a:xfrm>
            <a:off x="6670307" y="2725961"/>
            <a:ext cx="4357489" cy="3610491"/>
          </a:xfrm>
          <a:prstGeom prst="rect">
            <a:avLst/>
          </a:prstGeom>
        </p:spPr>
      </p:pic>
    </p:spTree>
    <p:extLst>
      <p:ext uri="{BB962C8B-B14F-4D97-AF65-F5344CB8AC3E}">
        <p14:creationId xmlns:p14="http://schemas.microsoft.com/office/powerpoint/2010/main" val="204257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445E2-69D3-0F3A-55EC-A7880CCDD4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B93B39-896A-F386-7E6A-63B51F488732}"/>
              </a:ext>
            </a:extLst>
          </p:cNvPr>
          <p:cNvSpPr>
            <a:spLocks noGrp="1"/>
          </p:cNvSpPr>
          <p:nvPr>
            <p:ph type="title"/>
          </p:nvPr>
        </p:nvSpPr>
        <p:spPr>
          <a:xfrm>
            <a:off x="838201" y="365125"/>
            <a:ext cx="6727166" cy="1325563"/>
          </a:xfrm>
        </p:spPr>
        <p:txBody>
          <a:bodyPr/>
          <a:lstStyle/>
          <a:p>
            <a:r>
              <a:rPr lang="en-US"/>
              <a:t>Image Projection onto the Retina</a:t>
            </a:r>
          </a:p>
        </p:txBody>
      </p:sp>
      <p:pic>
        <p:nvPicPr>
          <p:cNvPr id="6" name="Picture 5">
            <a:extLst>
              <a:ext uri="{FF2B5EF4-FFF2-40B4-BE49-F238E27FC236}">
                <a16:creationId xmlns:a16="http://schemas.microsoft.com/office/drawing/2014/main" id="{571D3400-C8AE-17B9-C1E0-855BB3E63EEE}"/>
              </a:ext>
            </a:extLst>
          </p:cNvPr>
          <p:cNvPicPr>
            <a:picLocks noChangeAspect="1"/>
          </p:cNvPicPr>
          <p:nvPr/>
        </p:nvPicPr>
        <p:blipFill>
          <a:blip r:embed="rId2"/>
          <a:stretch>
            <a:fillRect/>
          </a:stretch>
        </p:blipFill>
        <p:spPr>
          <a:xfrm>
            <a:off x="7253724" y="1423269"/>
            <a:ext cx="3792906" cy="1901303"/>
          </a:xfrm>
          <a:prstGeom prst="rect">
            <a:avLst/>
          </a:prstGeom>
        </p:spPr>
      </p:pic>
      <p:pic>
        <p:nvPicPr>
          <p:cNvPr id="8" name="Picture 7">
            <a:extLst>
              <a:ext uri="{FF2B5EF4-FFF2-40B4-BE49-F238E27FC236}">
                <a16:creationId xmlns:a16="http://schemas.microsoft.com/office/drawing/2014/main" id="{C7205D90-2CCD-B781-B5C3-3F0CCCB3F797}"/>
              </a:ext>
            </a:extLst>
          </p:cNvPr>
          <p:cNvPicPr>
            <a:picLocks noChangeAspect="1"/>
          </p:cNvPicPr>
          <p:nvPr/>
        </p:nvPicPr>
        <p:blipFill>
          <a:blip r:embed="rId3"/>
          <a:stretch>
            <a:fillRect/>
          </a:stretch>
        </p:blipFill>
        <p:spPr>
          <a:xfrm>
            <a:off x="3554803" y="1431690"/>
            <a:ext cx="2114175" cy="3080503"/>
          </a:xfrm>
          <a:prstGeom prst="rect">
            <a:avLst/>
          </a:prstGeom>
        </p:spPr>
      </p:pic>
      <p:sp>
        <p:nvSpPr>
          <p:cNvPr id="10" name="TextBox 9">
            <a:extLst>
              <a:ext uri="{FF2B5EF4-FFF2-40B4-BE49-F238E27FC236}">
                <a16:creationId xmlns:a16="http://schemas.microsoft.com/office/drawing/2014/main" id="{5D97386D-12C2-62C3-0DA1-EE271836E3CC}"/>
              </a:ext>
            </a:extLst>
          </p:cNvPr>
          <p:cNvSpPr txBox="1"/>
          <p:nvPr/>
        </p:nvSpPr>
        <p:spPr>
          <a:xfrm>
            <a:off x="838201" y="2035745"/>
            <a:ext cx="2438799" cy="1200329"/>
          </a:xfrm>
          <a:prstGeom prst="rect">
            <a:avLst/>
          </a:prstGeom>
          <a:noFill/>
        </p:spPr>
        <p:txBody>
          <a:bodyPr wrap="square">
            <a:spAutoFit/>
          </a:bodyPr>
          <a:lstStyle/>
          <a:p>
            <a:r>
              <a:rPr lang="en-US"/>
              <a:t>Transformation of the image by the lens has consequences for the retina…</a:t>
            </a:r>
          </a:p>
        </p:txBody>
      </p:sp>
      <p:pic>
        <p:nvPicPr>
          <p:cNvPr id="13" name="Picture 12">
            <a:extLst>
              <a:ext uri="{FF2B5EF4-FFF2-40B4-BE49-F238E27FC236}">
                <a16:creationId xmlns:a16="http://schemas.microsoft.com/office/drawing/2014/main" id="{55139AAD-93B5-B3ED-0FBC-D9CB456133C3}"/>
              </a:ext>
            </a:extLst>
          </p:cNvPr>
          <p:cNvPicPr>
            <a:picLocks noChangeAspect="1"/>
          </p:cNvPicPr>
          <p:nvPr/>
        </p:nvPicPr>
        <p:blipFill>
          <a:blip r:embed="rId4"/>
          <a:stretch>
            <a:fillRect/>
          </a:stretch>
        </p:blipFill>
        <p:spPr>
          <a:xfrm>
            <a:off x="5887596" y="3931920"/>
            <a:ext cx="5653042" cy="2381682"/>
          </a:xfrm>
          <a:prstGeom prst="rect">
            <a:avLst/>
          </a:prstGeom>
        </p:spPr>
      </p:pic>
    </p:spTree>
    <p:extLst>
      <p:ext uri="{BB962C8B-B14F-4D97-AF65-F5344CB8AC3E}">
        <p14:creationId xmlns:p14="http://schemas.microsoft.com/office/powerpoint/2010/main" val="1479592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D6F7A-68B4-38C1-6614-D4784B47D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C7D20F-ED4A-67B9-7465-1E8ECB80B6E0}"/>
              </a:ext>
            </a:extLst>
          </p:cNvPr>
          <p:cNvSpPr>
            <a:spLocks noGrp="1"/>
          </p:cNvSpPr>
          <p:nvPr>
            <p:ph type="title"/>
          </p:nvPr>
        </p:nvSpPr>
        <p:spPr>
          <a:xfrm>
            <a:off x="838201" y="365125"/>
            <a:ext cx="6727166" cy="1325563"/>
          </a:xfrm>
        </p:spPr>
        <p:txBody>
          <a:bodyPr/>
          <a:lstStyle/>
          <a:p>
            <a:r>
              <a:rPr lang="en-US"/>
              <a:t>Images can be described as a set of pixels</a:t>
            </a:r>
          </a:p>
        </p:txBody>
      </p:sp>
      <p:pic>
        <p:nvPicPr>
          <p:cNvPr id="4" name="Picture 3">
            <a:extLst>
              <a:ext uri="{FF2B5EF4-FFF2-40B4-BE49-F238E27FC236}">
                <a16:creationId xmlns:a16="http://schemas.microsoft.com/office/drawing/2014/main" id="{2DCCEC04-4DCE-7E41-7B3C-71EB552576CC}"/>
              </a:ext>
            </a:extLst>
          </p:cNvPr>
          <p:cNvPicPr>
            <a:picLocks noChangeAspect="1"/>
          </p:cNvPicPr>
          <p:nvPr/>
        </p:nvPicPr>
        <p:blipFill>
          <a:blip r:embed="rId2"/>
          <a:stretch>
            <a:fillRect/>
          </a:stretch>
        </p:blipFill>
        <p:spPr>
          <a:xfrm>
            <a:off x="4657628" y="2083876"/>
            <a:ext cx="3533472" cy="1715277"/>
          </a:xfrm>
          <a:prstGeom prst="rect">
            <a:avLst/>
          </a:prstGeom>
        </p:spPr>
      </p:pic>
      <p:pic>
        <p:nvPicPr>
          <p:cNvPr id="7" name="Picture 6">
            <a:extLst>
              <a:ext uri="{FF2B5EF4-FFF2-40B4-BE49-F238E27FC236}">
                <a16:creationId xmlns:a16="http://schemas.microsoft.com/office/drawing/2014/main" id="{2D4038A8-FBBA-5128-71D7-FABD3A36ED12}"/>
              </a:ext>
            </a:extLst>
          </p:cNvPr>
          <p:cNvPicPr>
            <a:picLocks noChangeAspect="1"/>
          </p:cNvPicPr>
          <p:nvPr/>
        </p:nvPicPr>
        <p:blipFill>
          <a:blip r:embed="rId3"/>
          <a:stretch>
            <a:fillRect/>
          </a:stretch>
        </p:blipFill>
        <p:spPr>
          <a:xfrm>
            <a:off x="8670492" y="1453415"/>
            <a:ext cx="3282214" cy="2685448"/>
          </a:xfrm>
          <a:prstGeom prst="rect">
            <a:avLst/>
          </a:prstGeom>
        </p:spPr>
      </p:pic>
    </p:spTree>
    <p:extLst>
      <p:ext uri="{BB962C8B-B14F-4D97-AF65-F5344CB8AC3E}">
        <p14:creationId xmlns:p14="http://schemas.microsoft.com/office/powerpoint/2010/main" val="4194086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F47AA-28F8-C363-6F02-2AA8A3854B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FCFF4-8AD6-4EE6-DB73-6B7BE725A7B2}"/>
              </a:ext>
            </a:extLst>
          </p:cNvPr>
          <p:cNvSpPr>
            <a:spLocks noGrp="1"/>
          </p:cNvSpPr>
          <p:nvPr>
            <p:ph type="title"/>
          </p:nvPr>
        </p:nvSpPr>
        <p:spPr>
          <a:xfrm>
            <a:off x="838200" y="365125"/>
            <a:ext cx="9643711" cy="1325563"/>
          </a:xfrm>
        </p:spPr>
        <p:txBody>
          <a:bodyPr/>
          <a:lstStyle/>
          <a:p>
            <a:r>
              <a:rPr lang="en-US"/>
              <a:t>A note on Information content</a:t>
            </a:r>
          </a:p>
        </p:txBody>
      </p:sp>
      <p:pic>
        <p:nvPicPr>
          <p:cNvPr id="5" name="Picture 4">
            <a:extLst>
              <a:ext uri="{FF2B5EF4-FFF2-40B4-BE49-F238E27FC236}">
                <a16:creationId xmlns:a16="http://schemas.microsoft.com/office/drawing/2014/main" id="{5C9FFAE3-CDCF-EFEA-BF31-E9683D08A840}"/>
              </a:ext>
            </a:extLst>
          </p:cNvPr>
          <p:cNvPicPr>
            <a:picLocks noChangeAspect="1"/>
          </p:cNvPicPr>
          <p:nvPr/>
        </p:nvPicPr>
        <p:blipFill>
          <a:blip r:embed="rId2"/>
          <a:stretch>
            <a:fillRect/>
          </a:stretch>
        </p:blipFill>
        <p:spPr>
          <a:xfrm>
            <a:off x="2943675" y="2061013"/>
            <a:ext cx="5432760" cy="3558400"/>
          </a:xfrm>
          <a:prstGeom prst="rect">
            <a:avLst/>
          </a:prstGeom>
        </p:spPr>
      </p:pic>
    </p:spTree>
    <p:extLst>
      <p:ext uri="{BB962C8B-B14F-4D97-AF65-F5344CB8AC3E}">
        <p14:creationId xmlns:p14="http://schemas.microsoft.com/office/powerpoint/2010/main" val="3760097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EE3B5-ED7F-288D-4136-6293B7028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A5BB0-CEE0-6B82-8EAE-E424F51AD272}"/>
              </a:ext>
            </a:extLst>
          </p:cNvPr>
          <p:cNvSpPr>
            <a:spLocks noGrp="1"/>
          </p:cNvSpPr>
          <p:nvPr>
            <p:ph type="title"/>
          </p:nvPr>
        </p:nvSpPr>
        <p:spPr>
          <a:xfrm>
            <a:off x="838200" y="365125"/>
            <a:ext cx="9643711" cy="1325563"/>
          </a:xfrm>
        </p:spPr>
        <p:txBody>
          <a:bodyPr/>
          <a:lstStyle/>
          <a:p>
            <a:r>
              <a:rPr lang="en-US"/>
              <a:t>THE RETINA</a:t>
            </a:r>
          </a:p>
        </p:txBody>
      </p:sp>
      <p:sp>
        <p:nvSpPr>
          <p:cNvPr id="3" name="TextBox 2">
            <a:extLst>
              <a:ext uri="{FF2B5EF4-FFF2-40B4-BE49-F238E27FC236}">
                <a16:creationId xmlns:a16="http://schemas.microsoft.com/office/drawing/2014/main" id="{642573ED-E4E1-0399-E064-0C4A46C07148}"/>
              </a:ext>
            </a:extLst>
          </p:cNvPr>
          <p:cNvSpPr txBox="1"/>
          <p:nvPr/>
        </p:nvSpPr>
        <p:spPr>
          <a:xfrm>
            <a:off x="957532" y="1500296"/>
            <a:ext cx="3769744" cy="5078313"/>
          </a:xfrm>
          <a:prstGeom prst="rect">
            <a:avLst/>
          </a:prstGeom>
          <a:noFill/>
        </p:spPr>
        <p:txBody>
          <a:bodyPr wrap="square" rtlCol="0">
            <a:spAutoFit/>
          </a:bodyPr>
          <a:lstStyle/>
          <a:p>
            <a:r>
              <a:rPr lang="en-US"/>
              <a:t>Three layers of cells and two layers of synapses. </a:t>
            </a:r>
          </a:p>
          <a:p>
            <a:endParaRPr lang="en-US"/>
          </a:p>
          <a:p>
            <a:r>
              <a:rPr lang="en-US" u="sng"/>
              <a:t>Optic nerve fibers </a:t>
            </a:r>
          </a:p>
          <a:p>
            <a:endParaRPr lang="en-US"/>
          </a:p>
          <a:p>
            <a:r>
              <a:rPr lang="en-US"/>
              <a:t>Ganglion cell layer</a:t>
            </a:r>
          </a:p>
          <a:p>
            <a:endParaRPr lang="en-US"/>
          </a:p>
          <a:p>
            <a:r>
              <a:rPr lang="en-US" u="sng"/>
              <a:t>Inner plexiform layer (IPL)</a:t>
            </a:r>
          </a:p>
          <a:p>
            <a:endParaRPr lang="en-US"/>
          </a:p>
          <a:p>
            <a:r>
              <a:rPr lang="en-US"/>
              <a:t>Bipolar cell layer: </a:t>
            </a:r>
            <a:r>
              <a:rPr lang="en-US" i="1"/>
              <a:t>horizontal cells + bipolar cells + amacrine cells</a:t>
            </a:r>
          </a:p>
          <a:p>
            <a:endParaRPr lang="en-US"/>
          </a:p>
          <a:p>
            <a:r>
              <a:rPr lang="en-US" u="sng"/>
              <a:t>Outer plexiform layer (OPL)</a:t>
            </a:r>
          </a:p>
          <a:p>
            <a:endParaRPr lang="en-US"/>
          </a:p>
          <a:p>
            <a:r>
              <a:rPr lang="en-US"/>
              <a:t>Photoreceptor cells: rods &amp; cones</a:t>
            </a:r>
          </a:p>
          <a:p>
            <a:endParaRPr lang="en-US"/>
          </a:p>
          <a:p>
            <a:r>
              <a:rPr lang="en-US"/>
              <a:t>Pigmented epithelium</a:t>
            </a:r>
          </a:p>
          <a:p>
            <a:endParaRPr lang="en-US"/>
          </a:p>
        </p:txBody>
      </p:sp>
      <p:pic>
        <p:nvPicPr>
          <p:cNvPr id="6" name="Picture 5">
            <a:extLst>
              <a:ext uri="{FF2B5EF4-FFF2-40B4-BE49-F238E27FC236}">
                <a16:creationId xmlns:a16="http://schemas.microsoft.com/office/drawing/2014/main" id="{18835090-830F-BE65-C762-99935963B72A}"/>
              </a:ext>
            </a:extLst>
          </p:cNvPr>
          <p:cNvPicPr>
            <a:picLocks noChangeAspect="1"/>
          </p:cNvPicPr>
          <p:nvPr/>
        </p:nvPicPr>
        <p:blipFill>
          <a:blip r:embed="rId2"/>
          <a:stretch>
            <a:fillRect/>
          </a:stretch>
        </p:blipFill>
        <p:spPr>
          <a:xfrm>
            <a:off x="4895850" y="824865"/>
            <a:ext cx="6457950" cy="5086350"/>
          </a:xfrm>
          <a:prstGeom prst="rect">
            <a:avLst/>
          </a:prstGeom>
        </p:spPr>
      </p:pic>
    </p:spTree>
    <p:extLst>
      <p:ext uri="{BB962C8B-B14F-4D97-AF65-F5344CB8AC3E}">
        <p14:creationId xmlns:p14="http://schemas.microsoft.com/office/powerpoint/2010/main" val="3178627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9E61C-FDB4-E0DB-DC27-0C54A5CBF9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8F1E0-A044-C6C5-A785-6A2F04985553}"/>
              </a:ext>
            </a:extLst>
          </p:cNvPr>
          <p:cNvSpPr>
            <a:spLocks noGrp="1"/>
          </p:cNvSpPr>
          <p:nvPr>
            <p:ph type="title"/>
          </p:nvPr>
        </p:nvSpPr>
        <p:spPr>
          <a:xfrm>
            <a:off x="838200" y="365125"/>
            <a:ext cx="9643711" cy="1325563"/>
          </a:xfrm>
        </p:spPr>
        <p:txBody>
          <a:bodyPr/>
          <a:lstStyle/>
          <a:p>
            <a:r>
              <a:rPr lang="en-US"/>
              <a:t>THE RETINA</a:t>
            </a:r>
          </a:p>
        </p:txBody>
      </p:sp>
      <p:sp>
        <p:nvSpPr>
          <p:cNvPr id="3" name="TextBox 2">
            <a:extLst>
              <a:ext uri="{FF2B5EF4-FFF2-40B4-BE49-F238E27FC236}">
                <a16:creationId xmlns:a16="http://schemas.microsoft.com/office/drawing/2014/main" id="{C5D6160E-F619-E12F-C272-3BA48EE85886}"/>
              </a:ext>
            </a:extLst>
          </p:cNvPr>
          <p:cNvSpPr txBox="1"/>
          <p:nvPr/>
        </p:nvSpPr>
        <p:spPr>
          <a:xfrm>
            <a:off x="957532" y="1500296"/>
            <a:ext cx="3769744" cy="5447645"/>
          </a:xfrm>
          <a:prstGeom prst="rect">
            <a:avLst/>
          </a:prstGeom>
          <a:noFill/>
        </p:spPr>
        <p:txBody>
          <a:bodyPr wrap="square" rtlCol="0">
            <a:spAutoFit/>
          </a:bodyPr>
          <a:lstStyle/>
          <a:p>
            <a:r>
              <a:rPr lang="en-US" sz="1600"/>
              <a:t>Photoreceptors </a:t>
            </a:r>
          </a:p>
          <a:p>
            <a:pPr lvl="1"/>
            <a:r>
              <a:rPr lang="en-US" sz="1600"/>
              <a:t>Rods work at low (scotopic) light levels.</a:t>
            </a:r>
          </a:p>
          <a:p>
            <a:pPr lvl="1"/>
            <a:r>
              <a:rPr lang="en-US" sz="1600"/>
              <a:t>Cones work at high (photopic) levels and are responsible for both sharp acuity and color vision.</a:t>
            </a:r>
          </a:p>
          <a:p>
            <a:pPr lvl="1"/>
            <a:r>
              <a:rPr lang="en-US" sz="1600"/>
              <a:t>Both work at intermediate (mesopic) light levels.</a:t>
            </a:r>
          </a:p>
          <a:p>
            <a:pPr lvl="1"/>
            <a:endParaRPr lang="en-US" sz="1600"/>
          </a:p>
          <a:p>
            <a:r>
              <a:rPr lang="en-US" sz="1600"/>
              <a:t>The direct pathway is from cones → bipolar cells → ganglion cells.</a:t>
            </a:r>
          </a:p>
          <a:p>
            <a:endParaRPr lang="en-US" sz="1600"/>
          </a:p>
          <a:p>
            <a:r>
              <a:rPr lang="en-US" sz="1600"/>
              <a:t>Horizontal cells and amacrine cells provide lateral connections. H cells do NOT contact bipolar cells.</a:t>
            </a:r>
          </a:p>
          <a:p>
            <a:endParaRPr lang="en-US" sz="1600"/>
          </a:p>
          <a:p>
            <a:r>
              <a:rPr lang="en-US" sz="1600"/>
              <a:t>Cones and bipolar cells give graded responses.</a:t>
            </a:r>
          </a:p>
          <a:p>
            <a:endParaRPr lang="en-US" sz="1600"/>
          </a:p>
          <a:p>
            <a:r>
              <a:rPr lang="en-US" sz="1600"/>
              <a:t>Ganglion cells fire spikes.</a:t>
            </a:r>
          </a:p>
          <a:p>
            <a:endParaRPr lang="en-US" sz="1600"/>
          </a:p>
        </p:txBody>
      </p:sp>
      <p:pic>
        <p:nvPicPr>
          <p:cNvPr id="5" name="Picture 4">
            <a:extLst>
              <a:ext uri="{FF2B5EF4-FFF2-40B4-BE49-F238E27FC236}">
                <a16:creationId xmlns:a16="http://schemas.microsoft.com/office/drawing/2014/main" id="{DC5235FF-6DEE-CCCE-5277-1ABE9EAA5110}"/>
              </a:ext>
            </a:extLst>
          </p:cNvPr>
          <p:cNvPicPr>
            <a:picLocks noChangeAspect="1"/>
          </p:cNvPicPr>
          <p:nvPr/>
        </p:nvPicPr>
        <p:blipFill>
          <a:blip r:embed="rId2"/>
          <a:stretch>
            <a:fillRect/>
          </a:stretch>
        </p:blipFill>
        <p:spPr>
          <a:xfrm>
            <a:off x="8171849" y="2319688"/>
            <a:ext cx="3440047" cy="2791717"/>
          </a:xfrm>
          <a:prstGeom prst="rect">
            <a:avLst/>
          </a:prstGeom>
        </p:spPr>
      </p:pic>
      <p:pic>
        <p:nvPicPr>
          <p:cNvPr id="8" name="Picture 7">
            <a:extLst>
              <a:ext uri="{FF2B5EF4-FFF2-40B4-BE49-F238E27FC236}">
                <a16:creationId xmlns:a16="http://schemas.microsoft.com/office/drawing/2014/main" id="{FFF503E5-0EDB-5827-B58E-65BF31A2A3C0}"/>
              </a:ext>
            </a:extLst>
          </p:cNvPr>
          <p:cNvPicPr>
            <a:picLocks noChangeAspect="1"/>
          </p:cNvPicPr>
          <p:nvPr/>
        </p:nvPicPr>
        <p:blipFill>
          <a:blip r:embed="rId3"/>
          <a:stretch>
            <a:fillRect/>
          </a:stretch>
        </p:blipFill>
        <p:spPr>
          <a:xfrm>
            <a:off x="5469221" y="1813418"/>
            <a:ext cx="1825929" cy="4029117"/>
          </a:xfrm>
          <a:prstGeom prst="rect">
            <a:avLst/>
          </a:prstGeom>
        </p:spPr>
      </p:pic>
    </p:spTree>
    <p:extLst>
      <p:ext uri="{BB962C8B-B14F-4D97-AF65-F5344CB8AC3E}">
        <p14:creationId xmlns:p14="http://schemas.microsoft.com/office/powerpoint/2010/main" val="37902043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9EA79-DBF7-432F-9BB4-4BA85E49B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1F01A3-0FB8-8DC8-2D10-1D05246696A2}"/>
              </a:ext>
            </a:extLst>
          </p:cNvPr>
          <p:cNvSpPr>
            <a:spLocks noGrp="1"/>
          </p:cNvSpPr>
          <p:nvPr>
            <p:ph type="title"/>
          </p:nvPr>
        </p:nvSpPr>
        <p:spPr>
          <a:xfrm>
            <a:off x="838200" y="365125"/>
            <a:ext cx="9643711" cy="1325563"/>
          </a:xfrm>
        </p:spPr>
        <p:txBody>
          <a:bodyPr/>
          <a:lstStyle/>
          <a:p>
            <a:r>
              <a:rPr lang="en-US"/>
              <a:t>Photoreceptor Layout</a:t>
            </a:r>
          </a:p>
        </p:txBody>
      </p:sp>
      <p:sp>
        <p:nvSpPr>
          <p:cNvPr id="3" name="TextBox 2">
            <a:extLst>
              <a:ext uri="{FF2B5EF4-FFF2-40B4-BE49-F238E27FC236}">
                <a16:creationId xmlns:a16="http://schemas.microsoft.com/office/drawing/2014/main" id="{E11AEAAC-4F7F-DCBF-988F-98C1104E5E9C}"/>
              </a:ext>
            </a:extLst>
          </p:cNvPr>
          <p:cNvSpPr txBox="1"/>
          <p:nvPr/>
        </p:nvSpPr>
        <p:spPr>
          <a:xfrm>
            <a:off x="957532" y="1500296"/>
            <a:ext cx="3769744" cy="3046988"/>
          </a:xfrm>
          <a:prstGeom prst="rect">
            <a:avLst/>
          </a:prstGeom>
          <a:noFill/>
        </p:spPr>
        <p:txBody>
          <a:bodyPr wrap="square" rtlCol="0">
            <a:spAutoFit/>
          </a:bodyPr>
          <a:lstStyle/>
          <a:p>
            <a:r>
              <a:rPr lang="en-US" sz="1600" b="1"/>
              <a:t>Layout (</a:t>
            </a:r>
            <a:r>
              <a:rPr lang="en-US" sz="1600"/>
              <a:t>Humans):</a:t>
            </a:r>
          </a:p>
          <a:p>
            <a:r>
              <a:rPr lang="en-US" sz="1600"/>
              <a:t>the center (fovea) has only cones</a:t>
            </a:r>
          </a:p>
          <a:p>
            <a:r>
              <a:rPr lang="en-US" sz="1600"/>
              <a:t>Visual acuity is best in the </a:t>
            </a:r>
            <a:r>
              <a:rPr lang="en-US" sz="1600" b="1"/>
              <a:t>fovea</a:t>
            </a:r>
            <a:r>
              <a:rPr lang="en-US" sz="1600"/>
              <a:t>–it has a high density of cones.</a:t>
            </a:r>
          </a:p>
          <a:p>
            <a:endParaRPr lang="en-US" sz="1600" b="1"/>
          </a:p>
          <a:p>
            <a:r>
              <a:rPr lang="en-US" sz="1600" b="1"/>
              <a:t>Optic disc</a:t>
            </a:r>
            <a:r>
              <a:rPr lang="en-US" sz="1600"/>
              <a:t>–where blood vessels enter and leave the eye and where “optic axons” from ganglion cells leave the eye.</a:t>
            </a:r>
          </a:p>
          <a:p>
            <a:endParaRPr lang="en-US" sz="1600"/>
          </a:p>
          <a:p>
            <a:r>
              <a:rPr lang="en-US" sz="1600" b="1"/>
              <a:t>Blind spot</a:t>
            </a:r>
            <a:r>
              <a:rPr lang="en-US" sz="1600"/>
              <a:t> due to lack of photoreceptors in the optic disc</a:t>
            </a:r>
          </a:p>
          <a:p>
            <a:endParaRPr lang="en-US" sz="1600"/>
          </a:p>
        </p:txBody>
      </p:sp>
      <p:pic>
        <p:nvPicPr>
          <p:cNvPr id="10" name="Picture 9">
            <a:extLst>
              <a:ext uri="{FF2B5EF4-FFF2-40B4-BE49-F238E27FC236}">
                <a16:creationId xmlns:a16="http://schemas.microsoft.com/office/drawing/2014/main" id="{37CC0CE3-C2BE-5F4C-9F45-2B462946F254}"/>
              </a:ext>
            </a:extLst>
          </p:cNvPr>
          <p:cNvPicPr>
            <a:picLocks noChangeAspect="1"/>
          </p:cNvPicPr>
          <p:nvPr/>
        </p:nvPicPr>
        <p:blipFill>
          <a:blip r:embed="rId2"/>
          <a:stretch>
            <a:fillRect/>
          </a:stretch>
        </p:blipFill>
        <p:spPr>
          <a:xfrm>
            <a:off x="6760558" y="1414731"/>
            <a:ext cx="3422322" cy="3554083"/>
          </a:xfrm>
          <a:prstGeom prst="rect">
            <a:avLst/>
          </a:prstGeom>
        </p:spPr>
      </p:pic>
    </p:spTree>
    <p:extLst>
      <p:ext uri="{BB962C8B-B14F-4D97-AF65-F5344CB8AC3E}">
        <p14:creationId xmlns:p14="http://schemas.microsoft.com/office/powerpoint/2010/main" val="144496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21DE2-3F9B-E6FC-E85B-E7452D561C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7C5FD-AFAA-BE6D-328F-12E03838F426}"/>
              </a:ext>
            </a:extLst>
          </p:cNvPr>
          <p:cNvSpPr>
            <a:spLocks noGrp="1"/>
          </p:cNvSpPr>
          <p:nvPr>
            <p:ph type="title"/>
          </p:nvPr>
        </p:nvSpPr>
        <p:spPr>
          <a:xfrm>
            <a:off x="838200" y="365125"/>
            <a:ext cx="9643711" cy="1325563"/>
          </a:xfrm>
        </p:spPr>
        <p:txBody>
          <a:bodyPr/>
          <a:lstStyle/>
          <a:p>
            <a:r>
              <a:rPr lang="en-US"/>
              <a:t>The Fovea</a:t>
            </a:r>
          </a:p>
        </p:txBody>
      </p:sp>
      <p:sp>
        <p:nvSpPr>
          <p:cNvPr id="3" name="TextBox 2">
            <a:extLst>
              <a:ext uri="{FF2B5EF4-FFF2-40B4-BE49-F238E27FC236}">
                <a16:creationId xmlns:a16="http://schemas.microsoft.com/office/drawing/2014/main" id="{9D5792F6-DE49-8759-EF89-72D033C0E64E}"/>
              </a:ext>
            </a:extLst>
          </p:cNvPr>
          <p:cNvSpPr txBox="1"/>
          <p:nvPr/>
        </p:nvSpPr>
        <p:spPr>
          <a:xfrm>
            <a:off x="957532" y="1500296"/>
            <a:ext cx="3769744" cy="4031873"/>
          </a:xfrm>
          <a:prstGeom prst="rect">
            <a:avLst/>
          </a:prstGeom>
          <a:noFill/>
        </p:spPr>
        <p:txBody>
          <a:bodyPr wrap="square" rtlCol="0">
            <a:spAutoFit/>
          </a:bodyPr>
          <a:lstStyle/>
          <a:p>
            <a:r>
              <a:rPr lang="en-US" sz="1600" b="1"/>
              <a:t>The fovea</a:t>
            </a:r>
          </a:p>
          <a:p>
            <a:r>
              <a:rPr lang="en-US" sz="1600"/>
              <a:t>The fovea (‘pit’), at the center of the retina, has no rods, only densely packed cones. </a:t>
            </a:r>
          </a:p>
          <a:p>
            <a:endParaRPr lang="en-US" sz="1600"/>
          </a:p>
          <a:p>
            <a:r>
              <a:rPr lang="en-US" sz="1600"/>
              <a:t>The cone terminals, bipolar cells and ganglion cells, along with their intraretinal blood supply, are swept to the side, so the path of light to foveal cones is unimpeded by blood.</a:t>
            </a:r>
          </a:p>
          <a:p>
            <a:endParaRPr lang="en-US" sz="1600"/>
          </a:p>
          <a:p>
            <a:r>
              <a:rPr lang="en-US" sz="1600"/>
              <a:t>Clinically, the center of the retina is called the macula. Macular degeneration is the most common cause of blindness in the elderly.</a:t>
            </a:r>
          </a:p>
          <a:p>
            <a:endParaRPr lang="en-US" sz="1600"/>
          </a:p>
        </p:txBody>
      </p:sp>
      <p:pic>
        <p:nvPicPr>
          <p:cNvPr id="7" name="Picture 6">
            <a:extLst>
              <a:ext uri="{FF2B5EF4-FFF2-40B4-BE49-F238E27FC236}">
                <a16:creationId xmlns:a16="http://schemas.microsoft.com/office/drawing/2014/main" id="{B45A007C-AAF1-F0C4-F342-33471FD0FB79}"/>
              </a:ext>
            </a:extLst>
          </p:cNvPr>
          <p:cNvPicPr>
            <a:picLocks noChangeAspect="1"/>
          </p:cNvPicPr>
          <p:nvPr/>
        </p:nvPicPr>
        <p:blipFill>
          <a:blip r:embed="rId2"/>
          <a:stretch>
            <a:fillRect/>
          </a:stretch>
        </p:blipFill>
        <p:spPr>
          <a:xfrm>
            <a:off x="5081841" y="2449901"/>
            <a:ext cx="6604075" cy="2298917"/>
          </a:xfrm>
          <a:prstGeom prst="rect">
            <a:avLst/>
          </a:prstGeom>
        </p:spPr>
      </p:pic>
    </p:spTree>
    <p:extLst>
      <p:ext uri="{BB962C8B-B14F-4D97-AF65-F5344CB8AC3E}">
        <p14:creationId xmlns:p14="http://schemas.microsoft.com/office/powerpoint/2010/main" val="2056024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DFACB-728F-044B-8E3C-C2D0A3268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7097EB-0DDB-B7AE-6E10-D882236461C2}"/>
              </a:ext>
            </a:extLst>
          </p:cNvPr>
          <p:cNvSpPr>
            <a:spLocks noGrp="1"/>
          </p:cNvSpPr>
          <p:nvPr>
            <p:ph type="title"/>
          </p:nvPr>
        </p:nvSpPr>
        <p:spPr>
          <a:xfrm>
            <a:off x="838200" y="365125"/>
            <a:ext cx="9643711" cy="1325563"/>
          </a:xfrm>
        </p:spPr>
        <p:txBody>
          <a:bodyPr/>
          <a:lstStyle/>
          <a:p>
            <a:r>
              <a:rPr lang="en-US"/>
              <a:t>The Fovea</a:t>
            </a:r>
          </a:p>
        </p:txBody>
      </p:sp>
      <p:sp>
        <p:nvSpPr>
          <p:cNvPr id="3" name="TextBox 2">
            <a:extLst>
              <a:ext uri="{FF2B5EF4-FFF2-40B4-BE49-F238E27FC236}">
                <a16:creationId xmlns:a16="http://schemas.microsoft.com/office/drawing/2014/main" id="{CA5BCC15-064E-8B87-0F4D-011E3FA15855}"/>
              </a:ext>
            </a:extLst>
          </p:cNvPr>
          <p:cNvSpPr txBox="1"/>
          <p:nvPr/>
        </p:nvSpPr>
        <p:spPr>
          <a:xfrm>
            <a:off x="957532" y="1500296"/>
            <a:ext cx="3769744" cy="4832092"/>
          </a:xfrm>
          <a:prstGeom prst="rect">
            <a:avLst/>
          </a:prstGeom>
          <a:noFill/>
        </p:spPr>
        <p:txBody>
          <a:bodyPr wrap="square" rtlCol="0">
            <a:spAutoFit/>
          </a:bodyPr>
          <a:lstStyle/>
          <a:p>
            <a:r>
              <a:rPr lang="en-US" sz="1400" b="1"/>
              <a:t>Visual resolution in the fovea</a:t>
            </a:r>
          </a:p>
          <a:p>
            <a:r>
              <a:rPr lang="en-US" sz="1400"/>
              <a:t>Foveal cones are very densely packed, giving just ~2.5 mm spacing. With 300 mm/deg of visual angle in human, this is ~1/120th deg.</a:t>
            </a:r>
          </a:p>
          <a:p>
            <a:r>
              <a:rPr lang="en-US" sz="1400"/>
              <a:t>With 120 samples/deg, our theoretical best resolution 60 cycles/deg. Remarkably, our resolution limit is this good!</a:t>
            </a:r>
          </a:p>
          <a:p>
            <a:endParaRPr lang="en-US" sz="1400"/>
          </a:p>
          <a:p>
            <a:r>
              <a:rPr lang="en-US" sz="1400"/>
              <a:t>Therefore, the circuits driven by foveal cones must be able to preserve the sampling density of the cones. The midget bipolar/midget ganglion cell pathway does this.</a:t>
            </a:r>
          </a:p>
          <a:p>
            <a:endParaRPr lang="en-US" sz="1400"/>
          </a:p>
          <a:p>
            <a:r>
              <a:rPr lang="en-US" sz="1400"/>
              <a:t>Resolution follows ganglion cell spacing, which increases away from the fovea because</a:t>
            </a:r>
          </a:p>
          <a:p>
            <a:pPr marL="285750" indent="-285750">
              <a:buFontTx/>
              <a:buChar char="-"/>
            </a:pPr>
            <a:r>
              <a:rPr lang="en-US" sz="1400"/>
              <a:t>a) the density of cones falls away from the fovea,</a:t>
            </a:r>
          </a:p>
          <a:p>
            <a:pPr marL="285750" indent="-285750">
              <a:buFontTx/>
              <a:buChar char="-"/>
            </a:pPr>
            <a:r>
              <a:rPr lang="en-US" sz="1400"/>
              <a:t>b) more and more cones converge on each midget bipolar cell, and</a:t>
            </a:r>
          </a:p>
          <a:p>
            <a:pPr marL="285750" indent="-285750">
              <a:buFontTx/>
              <a:buChar char="-"/>
            </a:pPr>
            <a:r>
              <a:rPr lang="en-US" sz="1400"/>
              <a:t>c) more and more midget bipolar cells converge on each midget ganglion cell.</a:t>
            </a:r>
          </a:p>
          <a:p>
            <a:endParaRPr lang="en-US" sz="1400"/>
          </a:p>
        </p:txBody>
      </p:sp>
      <p:pic>
        <p:nvPicPr>
          <p:cNvPr id="6" name="Picture 5">
            <a:extLst>
              <a:ext uri="{FF2B5EF4-FFF2-40B4-BE49-F238E27FC236}">
                <a16:creationId xmlns:a16="http://schemas.microsoft.com/office/drawing/2014/main" id="{B42DA26E-1102-B4A9-59C2-EA64B9B813E0}"/>
              </a:ext>
            </a:extLst>
          </p:cNvPr>
          <p:cNvPicPr>
            <a:picLocks noChangeAspect="1"/>
          </p:cNvPicPr>
          <p:nvPr/>
        </p:nvPicPr>
        <p:blipFill>
          <a:blip r:embed="rId2"/>
          <a:stretch>
            <a:fillRect/>
          </a:stretch>
        </p:blipFill>
        <p:spPr>
          <a:xfrm>
            <a:off x="5055109" y="1785668"/>
            <a:ext cx="3502295" cy="3369449"/>
          </a:xfrm>
          <a:prstGeom prst="rect">
            <a:avLst/>
          </a:prstGeom>
        </p:spPr>
      </p:pic>
      <p:pic>
        <p:nvPicPr>
          <p:cNvPr id="9" name="Picture 8">
            <a:extLst>
              <a:ext uri="{FF2B5EF4-FFF2-40B4-BE49-F238E27FC236}">
                <a16:creationId xmlns:a16="http://schemas.microsoft.com/office/drawing/2014/main" id="{C3898896-E4FF-E49A-6634-D237B23BD594}"/>
              </a:ext>
            </a:extLst>
          </p:cNvPr>
          <p:cNvPicPr>
            <a:picLocks noChangeAspect="1"/>
          </p:cNvPicPr>
          <p:nvPr/>
        </p:nvPicPr>
        <p:blipFill>
          <a:blip r:embed="rId3"/>
          <a:stretch>
            <a:fillRect/>
          </a:stretch>
        </p:blipFill>
        <p:spPr>
          <a:xfrm>
            <a:off x="8949449" y="2536137"/>
            <a:ext cx="2897283" cy="2527540"/>
          </a:xfrm>
          <a:prstGeom prst="rect">
            <a:avLst/>
          </a:prstGeom>
        </p:spPr>
      </p:pic>
      <p:sp>
        <p:nvSpPr>
          <p:cNvPr id="11" name="TextBox 10">
            <a:hlinkClick r:id="rId4"/>
            <a:extLst>
              <a:ext uri="{FF2B5EF4-FFF2-40B4-BE49-F238E27FC236}">
                <a16:creationId xmlns:a16="http://schemas.microsoft.com/office/drawing/2014/main" id="{E1421220-5ECA-4AC7-B900-E931B831E94E}"/>
              </a:ext>
            </a:extLst>
          </p:cNvPr>
          <p:cNvSpPr txBox="1"/>
          <p:nvPr/>
        </p:nvSpPr>
        <p:spPr>
          <a:xfrm>
            <a:off x="5985988" y="5548032"/>
            <a:ext cx="6094562" cy="646331"/>
          </a:xfrm>
          <a:prstGeom prst="rect">
            <a:avLst/>
          </a:prstGeom>
          <a:noFill/>
        </p:spPr>
        <p:txBody>
          <a:bodyPr wrap="square">
            <a:spAutoFit/>
          </a:bodyPr>
          <a:lstStyle/>
          <a:p>
            <a:r>
              <a:rPr lang="en-US">
                <a:hlinkClick r:id="rId4"/>
              </a:rPr>
              <a:t>The Blind Spot: </a:t>
            </a:r>
          </a:p>
          <a:p>
            <a:r>
              <a:rPr lang="en-US">
                <a:hlinkClick r:id="rId4"/>
              </a:rPr>
              <a:t>https://michaelbach.de/ot/cog-blindSpot/</a:t>
            </a:r>
            <a:endParaRPr lang="en-US"/>
          </a:p>
        </p:txBody>
      </p:sp>
    </p:spTree>
    <p:extLst>
      <p:ext uri="{BB962C8B-B14F-4D97-AF65-F5344CB8AC3E}">
        <p14:creationId xmlns:p14="http://schemas.microsoft.com/office/powerpoint/2010/main" val="4191366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112E7-B084-3F93-B36A-DEF7A6A404A0}"/>
              </a:ext>
            </a:extLst>
          </p:cNvPr>
          <p:cNvSpPr>
            <a:spLocks noGrp="1"/>
          </p:cNvSpPr>
          <p:nvPr>
            <p:ph type="title"/>
          </p:nvPr>
        </p:nvSpPr>
        <p:spPr/>
        <p:txBody>
          <a:bodyPr/>
          <a:lstStyle/>
          <a:p>
            <a:r>
              <a:rPr lang="en-US"/>
              <a:t>Readings + Assignment</a:t>
            </a:r>
          </a:p>
        </p:txBody>
      </p:sp>
      <p:sp>
        <p:nvSpPr>
          <p:cNvPr id="4" name="TextBox 3">
            <a:extLst>
              <a:ext uri="{FF2B5EF4-FFF2-40B4-BE49-F238E27FC236}">
                <a16:creationId xmlns:a16="http://schemas.microsoft.com/office/drawing/2014/main" id="{D0001953-7BCD-553C-FE2E-6AB45F5D701C}"/>
              </a:ext>
            </a:extLst>
          </p:cNvPr>
          <p:cNvSpPr txBox="1"/>
          <p:nvPr/>
        </p:nvSpPr>
        <p:spPr>
          <a:xfrm>
            <a:off x="958970" y="1462502"/>
            <a:ext cx="10394830" cy="5078313"/>
          </a:xfrm>
          <a:prstGeom prst="rect">
            <a:avLst/>
          </a:prstGeom>
          <a:noFill/>
        </p:spPr>
        <p:txBody>
          <a:bodyPr wrap="square">
            <a:spAutoFit/>
          </a:bodyPr>
          <a:lstStyle/>
          <a:p>
            <a:pPr>
              <a:buNone/>
            </a:pPr>
            <a:r>
              <a:rPr lang="en-US" sz="1200" b="1"/>
              <a:t>Readings/Assignments (MUST DO)</a:t>
            </a:r>
          </a:p>
          <a:p>
            <a:pPr>
              <a:buNone/>
            </a:pPr>
            <a:r>
              <a:rPr lang="en-US" sz="1200"/>
              <a:t>Submit your research question on friday</a:t>
            </a:r>
          </a:p>
          <a:p>
            <a:pPr>
              <a:buNone/>
            </a:pPr>
            <a:r>
              <a:rPr lang="en-US" sz="1200"/>
              <a:t>Read and Send me a paper on visual prosthetics. Once I confirm we’ll both read</a:t>
            </a:r>
          </a:p>
          <a:p>
            <a:pPr>
              <a:buNone/>
            </a:pPr>
            <a:endParaRPr lang="en-US" sz="1200"/>
          </a:p>
          <a:p>
            <a:pPr>
              <a:buNone/>
            </a:pPr>
            <a:r>
              <a:rPr lang="en-US" sz="1200" b="1"/>
              <a:t>Read Chapter 12 The Nervous System and Nervous Tissue (MUST READ)</a:t>
            </a:r>
            <a:endParaRPr lang="en-US" sz="1200"/>
          </a:p>
          <a:p>
            <a:pPr>
              <a:buNone/>
            </a:pPr>
            <a:r>
              <a:rPr lang="en-US" sz="1200">
                <a:hlinkClick r:id="rId2"/>
              </a:rPr>
              <a:t>https://openstax.org/books/anatomy-and-physiology/pages/12-introduction</a:t>
            </a:r>
            <a:r>
              <a:rPr lang="en-US" sz="1200"/>
              <a:t> 12.1 Basic Structure and Function of the Nervous System 12.2 Nervous Tissue 12.3 The Function of Nervous Tissue 12.4 The Action Potential 12.5 Communication Between Neurons</a:t>
            </a:r>
          </a:p>
          <a:p>
            <a:pPr>
              <a:buNone/>
            </a:pPr>
            <a:r>
              <a:rPr lang="en-US" sz="1200"/>
              <a:t>From : J. Gordon Betts, Kelly A. Young, James A. Wise, Eddie Johnson, Brandon Poe, Dean H. Kruse, Oksana Korol, Jody E. Johnson, Mark Womble, Peter DeSaix (Book URL: </a:t>
            </a:r>
            <a:r>
              <a:rPr lang="en-US" sz="1200">
                <a:hlinkClick r:id="rId3"/>
              </a:rPr>
              <a:t>https://openstax.org/books/anatomy-and-physiology/pages/1-introduction</a:t>
            </a:r>
            <a:r>
              <a:rPr lang="en-US" sz="1200"/>
              <a:t>)</a:t>
            </a:r>
          </a:p>
          <a:p>
            <a:pPr>
              <a:buNone/>
            </a:pPr>
            <a:endParaRPr lang="en-US" sz="1200"/>
          </a:p>
          <a:p>
            <a:pPr>
              <a:buNone/>
            </a:pPr>
            <a:r>
              <a:rPr lang="en-US" sz="1200" b="1"/>
              <a:t>Kalat JW (2024) Biological psychology, 14th edition. Boston, MA: Cengage. (MUST READ)</a:t>
            </a:r>
            <a:endParaRPr lang="en-US" sz="1200"/>
          </a:p>
          <a:p>
            <a:pPr>
              <a:buFont typeface="Arial" panose="020B0604020202020204" pitchFamily="34" charset="0"/>
              <a:buChar char="•"/>
            </a:pPr>
            <a:r>
              <a:rPr lang="en-US" sz="1200"/>
              <a:t>Module 5.1: Visual coding (stop reading at color vision)</a:t>
            </a:r>
          </a:p>
          <a:p>
            <a:pPr>
              <a:buFont typeface="Arial" panose="020B0604020202020204" pitchFamily="34" charset="0"/>
              <a:buChar char="•"/>
            </a:pPr>
            <a:r>
              <a:rPr lang="en-US" sz="1200"/>
              <a:t>Module 5.2: Visual Processing in the Brain</a:t>
            </a:r>
          </a:p>
          <a:p>
            <a:pPr>
              <a:buFont typeface="Arial" panose="020B0604020202020204" pitchFamily="34" charset="0"/>
              <a:buChar char="•"/>
            </a:pPr>
            <a:r>
              <a:rPr lang="en-US" sz="1200"/>
              <a:t>Module 5,3: Specialized Visual Processes</a:t>
            </a:r>
          </a:p>
          <a:p>
            <a:pPr>
              <a:buFont typeface="Arial" panose="020B0604020202020204" pitchFamily="34" charset="0"/>
              <a:buChar char="•"/>
            </a:pPr>
            <a:endParaRPr lang="en-US" sz="1200"/>
          </a:p>
          <a:p>
            <a:pPr>
              <a:buNone/>
            </a:pPr>
            <a:r>
              <a:rPr lang="en-US" sz="1200" b="1"/>
              <a:t>Sensation and Perception Cengage Free chapter 1 (MAYBE READ)</a:t>
            </a:r>
            <a:endParaRPr lang="en-US" sz="1200"/>
          </a:p>
          <a:p>
            <a:pPr>
              <a:buFont typeface="Arial" panose="020B0604020202020204" pitchFamily="34" charset="0"/>
              <a:buChar char="•"/>
            </a:pPr>
            <a:r>
              <a:rPr lang="en-US" sz="1200">
                <a:hlinkClick r:id="rId4"/>
              </a:rPr>
              <a:t>Chapter 1. Introduction to Perception</a:t>
            </a:r>
            <a:r>
              <a:rPr lang="en-US" sz="1200"/>
              <a:t> </a:t>
            </a:r>
          </a:p>
          <a:p>
            <a:pPr marL="742950" lvl="1" indent="-285750">
              <a:buFont typeface="Arial" panose="020B0604020202020204" pitchFamily="34" charset="0"/>
              <a:buChar char="•"/>
            </a:pPr>
            <a:r>
              <a:rPr lang="en-US" sz="1200">
                <a:hlinkClick r:id="rId5"/>
              </a:rPr>
              <a:t>1.3. The Perceptual Proces</a:t>
            </a:r>
            <a:endParaRPr lang="en-US" sz="1200"/>
          </a:p>
          <a:p>
            <a:pPr marL="742950" lvl="1" indent="-285750">
              <a:buFont typeface="Arial" panose="020B0604020202020204" pitchFamily="34" charset="0"/>
              <a:buChar char="•"/>
            </a:pPr>
            <a:r>
              <a:rPr lang="en-US" sz="1200">
                <a:hlinkClick r:id="rId6"/>
              </a:rPr>
              <a:t>1.4. Studying the Perceptual Process</a:t>
            </a:r>
            <a:endParaRPr lang="en-US" sz="1200"/>
          </a:p>
          <a:p>
            <a:pPr marL="742950" lvl="1" indent="-285750">
              <a:buFont typeface="Arial" panose="020B0604020202020204" pitchFamily="34" charset="0"/>
              <a:buChar char="•"/>
            </a:pPr>
            <a:r>
              <a:rPr lang="en-US" sz="1200">
                <a:hlinkClick r:id="rId7"/>
              </a:rPr>
              <a:t>1.5. Measuring Perception</a:t>
            </a:r>
            <a:endParaRPr lang="en-US" sz="1200"/>
          </a:p>
          <a:p>
            <a:pPr marL="742950" lvl="1" indent="-285750">
              <a:buFont typeface="Arial" panose="020B0604020202020204" pitchFamily="34" charset="0"/>
              <a:buChar char="•"/>
            </a:pPr>
            <a:r>
              <a:rPr lang="en-US" sz="1200">
                <a:hlinkClick r:id="rId8"/>
              </a:rPr>
              <a:t>1.6. Something to Consider: Why Is the Difference Between Physical and Perceptual Important?</a:t>
            </a:r>
            <a:endParaRPr lang="en-US" sz="1200"/>
          </a:p>
          <a:p>
            <a:pPr>
              <a:buNone/>
            </a:pPr>
            <a:endParaRPr lang="en-US" sz="1200" b="1"/>
          </a:p>
          <a:p>
            <a:pPr>
              <a:buNone/>
            </a:pPr>
            <a:r>
              <a:rPr lang="en-US" sz="1200" b="1"/>
              <a:t>Next Meeting</a:t>
            </a:r>
            <a:endParaRPr lang="en-US" sz="1200"/>
          </a:p>
          <a:p>
            <a:pPr>
              <a:buFont typeface="Arial" panose="020B0604020202020204" pitchFamily="34" charset="0"/>
              <a:buChar char="•"/>
            </a:pPr>
            <a:r>
              <a:rPr lang="en-US" sz="1200"/>
              <a:t>retinal cell signaling </a:t>
            </a:r>
          </a:p>
          <a:p>
            <a:pPr marL="742950" lvl="1" indent="-285750">
              <a:buFont typeface="Arial" panose="020B0604020202020204" pitchFamily="34" charset="0"/>
              <a:buChar char="•"/>
            </a:pPr>
            <a:r>
              <a:rPr lang="en-US" sz="1200"/>
              <a:t>must have read up on action potentials</a:t>
            </a:r>
          </a:p>
          <a:p>
            <a:pPr>
              <a:buFont typeface="Arial" panose="020B0604020202020204" pitchFamily="34" charset="0"/>
              <a:buChar char="•"/>
            </a:pPr>
            <a:r>
              <a:rPr lang="en-US" sz="1200"/>
              <a:t>central processing</a:t>
            </a:r>
          </a:p>
          <a:p>
            <a:pPr>
              <a:buFont typeface="Arial" panose="020B0604020202020204" pitchFamily="34" charset="0"/>
              <a:buChar char="•"/>
            </a:pPr>
            <a:r>
              <a:rPr lang="en-US" sz="1200"/>
              <a:t>discuss paper you sent</a:t>
            </a:r>
          </a:p>
        </p:txBody>
      </p:sp>
    </p:spTree>
    <p:extLst>
      <p:ext uri="{BB962C8B-B14F-4D97-AF65-F5344CB8AC3E}">
        <p14:creationId xmlns:p14="http://schemas.microsoft.com/office/powerpoint/2010/main" val="942304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F0F0E-4347-0D1D-11BD-569CE0198E47}"/>
              </a:ext>
            </a:extLst>
          </p:cNvPr>
          <p:cNvSpPr>
            <a:spLocks noGrp="1"/>
          </p:cNvSpPr>
          <p:nvPr>
            <p:ph type="title"/>
          </p:nvPr>
        </p:nvSpPr>
        <p:spPr/>
        <p:txBody>
          <a:bodyPr/>
          <a:lstStyle/>
          <a:p>
            <a:r>
              <a:rPr lang="en-US"/>
              <a:t>Next Week</a:t>
            </a:r>
          </a:p>
        </p:txBody>
      </p:sp>
      <p:pic>
        <p:nvPicPr>
          <p:cNvPr id="6" name="Picture 5">
            <a:extLst>
              <a:ext uri="{FF2B5EF4-FFF2-40B4-BE49-F238E27FC236}">
                <a16:creationId xmlns:a16="http://schemas.microsoft.com/office/drawing/2014/main" id="{AAF5CCFF-CF33-A17E-32E0-849F511AA1D8}"/>
              </a:ext>
            </a:extLst>
          </p:cNvPr>
          <p:cNvPicPr>
            <a:picLocks noChangeAspect="1"/>
          </p:cNvPicPr>
          <p:nvPr/>
        </p:nvPicPr>
        <p:blipFill>
          <a:blip r:embed="rId2"/>
          <a:stretch>
            <a:fillRect/>
          </a:stretch>
        </p:blipFill>
        <p:spPr>
          <a:xfrm>
            <a:off x="6288657" y="2431700"/>
            <a:ext cx="4561485" cy="3501385"/>
          </a:xfrm>
          <a:prstGeom prst="rect">
            <a:avLst/>
          </a:prstGeom>
        </p:spPr>
      </p:pic>
      <p:pic>
        <p:nvPicPr>
          <p:cNvPr id="8" name="Picture 7">
            <a:extLst>
              <a:ext uri="{FF2B5EF4-FFF2-40B4-BE49-F238E27FC236}">
                <a16:creationId xmlns:a16="http://schemas.microsoft.com/office/drawing/2014/main" id="{43E41257-E254-610D-375D-FD1FC40059D5}"/>
              </a:ext>
            </a:extLst>
          </p:cNvPr>
          <p:cNvPicPr>
            <a:picLocks noChangeAspect="1"/>
          </p:cNvPicPr>
          <p:nvPr/>
        </p:nvPicPr>
        <p:blipFill>
          <a:blip r:embed="rId3"/>
          <a:stretch>
            <a:fillRect/>
          </a:stretch>
        </p:blipFill>
        <p:spPr>
          <a:xfrm>
            <a:off x="1259457" y="2570025"/>
            <a:ext cx="3877815" cy="3235552"/>
          </a:xfrm>
          <a:prstGeom prst="rect">
            <a:avLst/>
          </a:prstGeom>
        </p:spPr>
      </p:pic>
    </p:spTree>
    <p:extLst>
      <p:ext uri="{BB962C8B-B14F-4D97-AF65-F5344CB8AC3E}">
        <p14:creationId xmlns:p14="http://schemas.microsoft.com/office/powerpoint/2010/main" val="95200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1021</Words>
  <Application>Microsoft Office PowerPoint</Application>
  <PresentationFormat>Widescreen</PresentationFormat>
  <Paragraphs>110</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Foundations</vt:lpstr>
      <vt:lpstr>Steps of sensory processing</vt:lpstr>
      <vt:lpstr>The Eye: </vt:lpstr>
      <vt:lpstr>The Lens: Accommodation</vt:lpstr>
      <vt:lpstr>The Lens: Image inversion</vt:lpstr>
      <vt:lpstr>Image Projection onto the Retina</vt:lpstr>
      <vt:lpstr>Images can be described as a set of pixels</vt:lpstr>
      <vt:lpstr>A note on Information content</vt:lpstr>
      <vt:lpstr>THE RETINA</vt:lpstr>
      <vt:lpstr>THE RETINA</vt:lpstr>
      <vt:lpstr>Photoreceptor Layout</vt:lpstr>
      <vt:lpstr>The Fovea</vt:lpstr>
      <vt:lpstr>The Fovea</vt:lpstr>
      <vt:lpstr>Readings + Assignment</vt:lpstr>
      <vt:lpstr>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Jimenez</dc:creator>
  <cp:lastModifiedBy>Luis Jimenez</cp:lastModifiedBy>
  <cp:revision>1</cp:revision>
  <dcterms:created xsi:type="dcterms:W3CDTF">2026-02-05T00:34:47Z</dcterms:created>
  <dcterms:modified xsi:type="dcterms:W3CDTF">2026-02-05T03:43:35Z</dcterms:modified>
</cp:coreProperties>
</file>